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jpeg" ContentType="image/jpeg"/>
  <Override PartName="/ppt/media/image14.png" ContentType="image/png"/>
  <Override PartName="/ppt/media/image24.png" ContentType="image/png"/>
  <Override PartName="/ppt/media/image1.png" ContentType="image/png"/>
  <Override PartName="/ppt/media/image31.png" ContentType="image/png"/>
  <Override PartName="/ppt/media/image25.png" ContentType="image/png"/>
  <Override PartName="/ppt/media/image2.png" ContentType="image/png"/>
  <Override PartName="/ppt/media/image32.png" ContentType="image/png"/>
  <Override PartName="/ppt/media/image26.png" ContentType="image/png"/>
  <Override PartName="/ppt/media/image3.png" ContentType="image/png"/>
  <Override PartName="/ppt/media/image13.png" ContentType="image/png"/>
  <Override PartName="/ppt/media/image8.png" ContentType="image/png"/>
  <Override PartName="/ppt/media/image38.png" ContentType="image/png"/>
  <Override PartName="/ppt/media/image40.png" ContentType="image/png"/>
  <Override PartName="/ppt/media/image9.png" ContentType="image/png"/>
  <Override PartName="/ppt/media/image39.png" ContentType="image/png"/>
  <Override PartName="/ppt/media/image41.png" ContentType="image/png"/>
  <Override PartName="/ppt/media/image30.png" ContentType="image/png"/>
  <Override PartName="/ppt/media/image28.png" ContentType="image/png"/>
  <Override PartName="/ppt/media/image42.png" ContentType="image/png"/>
  <Override PartName="/ppt/media/image43.png" ContentType="image/png"/>
  <Override PartName="/ppt/media/image44.png" ContentType="image/png"/>
  <Override PartName="/ppt/media/image45.png" ContentType="image/png"/>
  <Override PartName="/ppt/media/image46.png" ContentType="image/png"/>
  <Override PartName="/ppt/media/image11.png" ContentType="image/png"/>
  <Override PartName="/ppt/media/image12.png" ContentType="image/png"/>
  <Override PartName="/ppt/media/image10.png" ContentType="image/png"/>
  <Override PartName="/ppt/media/image47.png" ContentType="image/png"/>
  <Override PartName="/ppt/media/image37.png" ContentType="image/png"/>
  <Override PartName="/ppt/media/image7.png" ContentType="image/png"/>
  <Override PartName="/ppt/media/image36.png" ContentType="image/png"/>
  <Override PartName="/ppt/media/image6.png" ContentType="image/png"/>
  <Override PartName="/ppt/media/image29.png" ContentType="image/png"/>
  <Override PartName="/ppt/media/image5.png" ContentType="image/png"/>
  <Override PartName="/ppt/media/image35.png" ContentType="image/png"/>
  <Override PartName="/ppt/media/image34.png" ContentType="image/png"/>
  <Override PartName="/ppt/media/image4.png" ContentType="image/png"/>
  <Override PartName="/ppt/media/image33.jpeg" ContentType="image/jpeg"/>
  <Override PartName="/ppt/media/image27.png" ContentType="image/png"/>
  <Override PartName="/ppt/presProps.xml" ContentType="application/vnd.openxmlformats-officedocument.presentationml.presPro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7.xml" ContentType="application/vnd.openxmlformats-officedocument.presentationml.slide+xml"/>
  <Override PartName="/ppt/slides/slide6.xml" ContentType="application/vnd.openxmlformats-officedocument.presentationml.slide+xml"/>
  <Override PartName="/ppt/slides/slide21.xml" ContentType="application/vnd.openxmlformats-officedocument.presentationml.slide+xml"/>
  <Override PartName="/ppt/slides/slide19.xml" ContentType="application/vnd.openxmlformats-officedocument.presentationml.slide+xml"/>
  <Override PartName="/ppt/slides/slide4.xml" ContentType="application/vnd.openxmlformats-officedocument.presentationml.slide+xml"/>
  <Override PartName="/ppt/slides/slide20.xml" ContentType="application/vnd.openxmlformats-officedocument.presentationml.slide+xml"/>
  <Override PartName="/ppt/slides/slide18.xml" ContentType="application/vnd.openxmlformats-officedocument.presentationml.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20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slides/_rels/slide8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21.xml.rels" ContentType="application/vnd.openxmlformats-package.relationships+xml"/>
  <Override PartName="/ppt/slides/_rels/slide3.xml.rels" ContentType="application/vnd.openxmlformats-package.relationships+xml"/>
  <Override PartName="/ppt/slides/_rels/slide19.xml.rels" ContentType="application/vnd.openxmlformats-package.relationships+xml"/>
  <Override PartName="/ppt/slides/_rels/slide18.xml.rels" ContentType="application/vnd.openxmlformats-package.relationships+xml"/>
  <Override PartName="/ppt/slides/_rels/slide17.xml.rels" ContentType="application/vnd.openxmlformats-package.relationships+xml"/>
  <Override PartName="/ppt/slides/slide16.xml" ContentType="application/vnd.openxmlformats-officedocument.presentationml.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BAFDB80-E116-466E-AC80-2480A4B4CFFB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61702FA-33F9-4126-BBD2-BCDFF446CED0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864ACB68-8F1A-4BA0-B5EA-542C9BFA09BF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AE44D05-495B-44A3-B686-CE47C27D2E7C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45928DC-B54A-439F-888D-407550F60D65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subTitle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6C59D3A-7A8E-4863-A009-83BC8FF36344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58678D1-B08D-4510-BE19-ED7BD4B9BAE4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C9CA19B-05C9-4001-8C65-2BA7F987230D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0C226A9-E110-4B03-B4F6-CA56278761EB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C047587-50BC-4F0D-86DD-5097B23EC5CC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350E802C-5849-4247-8103-5EB1220E397D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E379BBD-4C60-43D7-9610-62CD0B745807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76A6ED-AA28-4C6C-8F77-B5D90390F9E4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3F2981E-17E4-4B49-BC91-2F2E57476272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D77E821-788E-412B-B376-5B898CA25FCF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70B7432-CE70-4A36-A62E-B59D466CB029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414B38-619D-46D4-8458-7A5833F20981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subTitle"/>
          </p:nvPr>
        </p:nvSpPr>
        <p:spPr>
          <a:xfrm>
            <a:off x="311760" y="744480"/>
            <a:ext cx="8520120" cy="951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999023BD-F612-4F76-B649-EABA2BE0E067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924EACD-861A-47E2-8A4A-6A230713BE6D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67854CF9-C95B-44EE-88C4-077EE6BDF354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60A6DB9-4218-4CB9-879B-020AA53F4F16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C19133F-D8E3-4A01-92DA-BD53F5D2A280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4"/>
          <p:cNvSpPr>
            <a:spLocks noGrp="1"/>
          </p:cNvSpPr>
          <p:nvPr>
            <p:ph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5"/>
          <p:cNvSpPr>
            <a:spLocks noGrp="1"/>
          </p:cNvSpPr>
          <p:nvPr>
            <p:ph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492EA8D-7AEB-442C-BBDE-ADE09450A89F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6"/>
          <p:cNvSpPr>
            <a:spLocks noGrp="1"/>
          </p:cNvSpPr>
          <p:nvPr>
            <p:ph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7"/>
          <p:cNvSpPr>
            <a:spLocks noGrp="1"/>
          </p:cNvSpPr>
          <p:nvPr>
            <p:ph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90FA589-26F7-4691-8B79-8A8CAE287AE3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311760" y="444960"/>
            <a:ext cx="8520120" cy="5724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 fontScale="91000"/>
          </a:bodyPr>
          <a:p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Clic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k to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edit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the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title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text 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form</a:t>
            </a:r>
            <a:r>
              <a:rPr b="0" lang="en-US" sz="2800" spc="-1" strike="noStrike">
                <a:solidFill>
                  <a:srgbClr val="000000"/>
                </a:solidFill>
                <a:latin typeface="Arial"/>
              </a:rPr>
              <a:t>at</a:t>
            </a:r>
            <a:endParaRPr b="0" lang="en-US" sz="2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31176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1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F415524C-5BAD-4F0B-B443-73364223985B}" type="slidenum">
              <a:rPr b="0" lang="en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11760" y="74448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rmAutofit/>
          </a:bodyPr>
          <a:p>
            <a:r>
              <a:rPr b="0" lang="en-US" sz="52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5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 type="sldNum" idx="2"/>
          </p:nvPr>
        </p:nvSpPr>
        <p:spPr>
          <a:xfrm>
            <a:off x="8472600" y="466308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CDBB36EB-9486-4141-A54D-21A32E0AB3DD}" type="slidenum">
              <a:rPr b="0" lang="en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3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jpeg"/><Relationship Id="rId3" Type="http://schemas.openxmlformats.org/officeDocument/2006/relationships/slideLayout" Target="../slideLayouts/slideLayout3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slideLayout" Target="../slideLayouts/slideLayout3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7" Type="http://schemas.openxmlformats.org/officeDocument/2006/relationships/slideLayout" Target="../slideLayouts/slideLayout3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slideLayout" Target="../slideLayouts/slideLayout3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8.png"/><Relationship Id="rId2" Type="http://schemas.openxmlformats.org/officeDocument/2006/relationships/slideLayout" Target="../slideLayouts/slideLayout3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image" Target="../media/image30.png"/><Relationship Id="rId3" Type="http://schemas.openxmlformats.org/officeDocument/2006/relationships/image" Target="../media/image31.png"/><Relationship Id="rId4" Type="http://schemas.openxmlformats.org/officeDocument/2006/relationships/slideLayout" Target="../slideLayouts/slideLayout3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image" Target="../media/image33.jpeg"/><Relationship Id="rId3" Type="http://schemas.openxmlformats.org/officeDocument/2006/relationships/slideLayout" Target="../slideLayouts/slideLayout3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slideLayout" Target="../slideLayouts/slideLayout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36.png"/><Relationship Id="rId2" Type="http://schemas.openxmlformats.org/officeDocument/2006/relationships/image" Target="../media/image37.png"/><Relationship Id="rId3" Type="http://schemas.openxmlformats.org/officeDocument/2006/relationships/slideLayout" Target="../slideLayouts/slideLayout3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8.png"/><Relationship Id="rId2" Type="http://schemas.openxmlformats.org/officeDocument/2006/relationships/image" Target="../media/image39.png"/><Relationship Id="rId3" Type="http://schemas.openxmlformats.org/officeDocument/2006/relationships/image" Target="../media/image40.png"/><Relationship Id="rId4" Type="http://schemas.openxmlformats.org/officeDocument/2006/relationships/slideLayout" Target="../slideLayouts/slideLayout3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41.png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slideLayout" Target="../slideLayouts/slideLayout3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3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45.png"/><Relationship Id="rId2" Type="http://schemas.openxmlformats.org/officeDocument/2006/relationships/slideLayout" Target="../slideLayouts/slideLayout3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46.png"/><Relationship Id="rId2" Type="http://schemas.openxmlformats.org/officeDocument/2006/relationships/image" Target="../media/image47.png"/><Relationship Id="rId3" Type="http://schemas.openxmlformats.org/officeDocument/2006/relationships/slideLayout" Target="../slideLayouts/slideLayout3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54;p13"/>
          <p:cNvSpPr/>
          <p:nvPr/>
        </p:nvSpPr>
        <p:spPr>
          <a:xfrm>
            <a:off x="464040" y="3833280"/>
            <a:ext cx="83678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1300" spc="-1" strike="noStrike" baseline="30000">
                <a:solidFill>
                  <a:srgbClr val="595959"/>
                </a:solidFill>
                <a:latin typeface="EB Garamond Medium"/>
                <a:ea typeface="EB Garamond Medium"/>
              </a:rPr>
              <a:t>1</a:t>
            </a:r>
            <a:r>
              <a:rPr b="0" lang="en" sz="1300" spc="-1" strike="noStrike">
                <a:solidFill>
                  <a:srgbClr val="595959"/>
                </a:solidFill>
                <a:latin typeface="EB Garamond Medium"/>
                <a:ea typeface="EB Garamond Medium"/>
              </a:rPr>
              <a:t>CIWRO,University of Oklahoma</a:t>
            </a:r>
            <a:endParaRPr b="0" lang="en-US" sz="1300" spc="-1" strike="noStrike">
              <a:latin typeface="LM Roman 10"/>
            </a:endParaRPr>
          </a:p>
          <a:p>
            <a:pPr>
              <a:lnSpc>
                <a:spcPct val="80000"/>
              </a:lnSpc>
              <a:buNone/>
              <a:tabLst>
                <a:tab algn="l" pos="0"/>
              </a:tabLst>
            </a:pPr>
            <a:r>
              <a:rPr b="0" lang="en" sz="1300" spc="-1" strike="noStrike" baseline="30000">
                <a:solidFill>
                  <a:srgbClr val="595959"/>
                </a:solidFill>
                <a:latin typeface="EB Garamond Medium"/>
                <a:ea typeface="EB Garamond Medium"/>
              </a:rPr>
              <a:t>2</a:t>
            </a:r>
            <a:r>
              <a:rPr b="0" lang="en" sz="1300" spc="-1" strike="noStrike">
                <a:solidFill>
                  <a:srgbClr val="595959"/>
                </a:solidFill>
                <a:latin typeface="EB Garamond Medium"/>
                <a:ea typeface="EB Garamond Medium"/>
              </a:rPr>
              <a:t>NOAA Air Resources Laboratory, Atmospheric Turbulence and Diffusion Division</a:t>
            </a:r>
            <a:endParaRPr b="0" lang="en-US" sz="1300" spc="-1" strike="noStrike">
              <a:latin typeface="LM Roman 10"/>
            </a:endParaRPr>
          </a:p>
        </p:txBody>
      </p:sp>
      <p:sp>
        <p:nvSpPr>
          <p:cNvPr id="79" name="Google Shape;55;p13"/>
          <p:cNvSpPr/>
          <p:nvPr/>
        </p:nvSpPr>
        <p:spPr>
          <a:xfrm>
            <a:off x="464040" y="3466440"/>
            <a:ext cx="8367840" cy="36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rmAutofit fontScale="43000"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800" spc="-1" strike="noStrike">
                <a:solidFill>
                  <a:srgbClr val="595959"/>
                </a:solidFill>
                <a:latin typeface="EB Garamond Medium"/>
                <a:ea typeface="EB Garamond Medium"/>
              </a:rPr>
              <a:t>Sreenath Paleri</a:t>
            </a:r>
            <a:r>
              <a:rPr b="0" lang="en" sz="2800" spc="-1" strike="noStrike" baseline="30000">
                <a:solidFill>
                  <a:srgbClr val="595959"/>
                </a:solidFill>
                <a:latin typeface="EB Garamond Medium"/>
                <a:ea typeface="EB Garamond Medium"/>
              </a:rPr>
              <a:t>1,2</a:t>
            </a:r>
            <a:r>
              <a:rPr b="0" lang="en" sz="2800" spc="-1" strike="noStrike">
                <a:solidFill>
                  <a:srgbClr val="595959"/>
                </a:solidFill>
                <a:latin typeface="EB Garamond Medium"/>
                <a:ea typeface="EB Garamond Medium"/>
              </a:rPr>
              <a:t>, Tilden Meyers</a:t>
            </a:r>
            <a:r>
              <a:rPr b="0" lang="en" sz="2800" spc="-1" strike="noStrike" baseline="30000">
                <a:solidFill>
                  <a:srgbClr val="595959"/>
                </a:solidFill>
                <a:latin typeface="EB Garamond Medium"/>
                <a:ea typeface="EB Garamond Medium"/>
              </a:rPr>
              <a:t>2</a:t>
            </a:r>
            <a:r>
              <a:rPr b="0" lang="en" sz="2800" spc="-1" strike="noStrike">
                <a:solidFill>
                  <a:srgbClr val="595959"/>
                </a:solidFill>
                <a:latin typeface="EB Garamond Medium"/>
                <a:ea typeface="EB Garamond Medium"/>
              </a:rPr>
              <a:t>, Temple Lee</a:t>
            </a:r>
            <a:r>
              <a:rPr b="0" lang="en" sz="2800" spc="-1" strike="noStrike" baseline="30000">
                <a:solidFill>
                  <a:srgbClr val="595959"/>
                </a:solidFill>
                <a:latin typeface="EB Garamond Medium"/>
                <a:ea typeface="EB Garamond Medium"/>
              </a:rPr>
              <a:t>2</a:t>
            </a:r>
            <a:r>
              <a:rPr b="0" lang="en" sz="2800" spc="-1" strike="noStrike">
                <a:solidFill>
                  <a:srgbClr val="595959"/>
                </a:solidFill>
                <a:latin typeface="EB Garamond Medium"/>
                <a:ea typeface="EB Garamond Medium"/>
              </a:rPr>
              <a:t> and Mark Heuer</a:t>
            </a:r>
            <a:r>
              <a:rPr b="0" lang="en" sz="2800" spc="-1" strike="noStrike" baseline="30000">
                <a:solidFill>
                  <a:srgbClr val="595959"/>
                </a:solidFill>
                <a:latin typeface="EB Garamond Medium"/>
                <a:ea typeface="EB Garamond Medium"/>
              </a:rPr>
              <a:t>2</a:t>
            </a:r>
            <a:endParaRPr b="0" lang="en-US" sz="2800" spc="-1" strike="noStrike">
              <a:latin typeface="LM Roman 10"/>
            </a:endParaRPr>
          </a:p>
        </p:txBody>
      </p:sp>
      <p:sp>
        <p:nvSpPr>
          <p:cNvPr id="80" name="Google Shape;56;p13"/>
          <p:cNvSpPr/>
          <p:nvPr/>
        </p:nvSpPr>
        <p:spPr>
          <a:xfrm>
            <a:off x="97200" y="4566960"/>
            <a:ext cx="785232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ffffff"/>
                </a:solidFill>
                <a:latin typeface="Arial"/>
                <a:ea typeface="Arial"/>
              </a:rPr>
              <a:t>AMS Annual Conference: SMOI</a:t>
            </a:r>
            <a:endParaRPr b="0" lang="en-US" sz="1400" spc="-1" strike="noStrike">
              <a:latin typeface="LM Roman 10"/>
            </a:endParaRPr>
          </a:p>
        </p:txBody>
      </p:sp>
      <p:sp>
        <p:nvSpPr>
          <p:cNvPr id="81" name="Google Shape;57;p13"/>
          <p:cNvSpPr/>
          <p:nvPr/>
        </p:nvSpPr>
        <p:spPr>
          <a:xfrm>
            <a:off x="97200" y="4862160"/>
            <a:ext cx="7852320" cy="238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400" spc="-1" strike="noStrike">
                <a:solidFill>
                  <a:srgbClr val="000000"/>
                </a:solidFill>
                <a:latin typeface="Arial"/>
                <a:ea typeface="Arial"/>
              </a:rPr>
              <a:t>16 January 2025</a:t>
            </a:r>
            <a:endParaRPr b="0" lang="en-US" sz="1400" spc="-1" strike="noStrike">
              <a:latin typeface="LM Roman 10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64040" y="88884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980" spc="-1" strike="noStrike">
                <a:solidFill>
                  <a:srgbClr val="000000"/>
                </a:solidFill>
                <a:latin typeface="EB Garamond"/>
                <a:ea typeface="EB Garamond"/>
              </a:rPr>
              <a:t>A Generalized Bulk Parameterization Approach for Land-Atmosphere Heat Fluxes</a:t>
            </a:r>
            <a:endParaRPr b="0" lang="en-US" sz="2980" spc="-1" strike="noStrike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98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174960" y="172800"/>
            <a:ext cx="8520120" cy="419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EB Garamond SemiBold"/>
                <a:ea typeface="EB Garamond SemiBold"/>
              </a:rPr>
              <a:t>Bulk aerodynamic method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Google Shape;64;p14"/>
          <p:cNvSpPr/>
          <p:nvPr/>
        </p:nvSpPr>
        <p:spPr>
          <a:xfrm>
            <a:off x="5741280" y="2798640"/>
            <a:ext cx="306828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EB Garamond Medium"/>
                <a:ea typeface="EB Garamond Medium"/>
              </a:rPr>
              <a:t>Stull 1993; Taylor 1916</a:t>
            </a:r>
            <a:endParaRPr b="0" lang="en-US" sz="1800" spc="-1" strike="noStrike">
              <a:latin typeface="LM Roman 10"/>
            </a:endParaRPr>
          </a:p>
        </p:txBody>
      </p:sp>
      <p:pic>
        <p:nvPicPr>
          <p:cNvPr id="85" name="Google Shape;65;p14" descr=""/>
          <p:cNvPicPr/>
          <p:nvPr/>
        </p:nvPicPr>
        <p:blipFill>
          <a:blip r:embed="rId2"/>
          <a:stretch/>
        </p:blipFill>
        <p:spPr>
          <a:xfrm>
            <a:off x="2364120" y="1247400"/>
            <a:ext cx="3145680" cy="1828440"/>
          </a:xfrm>
          <a:prstGeom prst="rect">
            <a:avLst/>
          </a:prstGeom>
          <a:ln w="0">
            <a:noFill/>
          </a:ln>
          <a:effectLst>
            <a:outerShdw algn="bl" blurRad="57240" dir="5400000" dist="47520" rotWithShape="0">
              <a:srgbClr val="000000">
                <a:alpha val="5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104040" y="354240"/>
            <a:ext cx="8520120" cy="419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EB Garamond SemiBold"/>
                <a:ea typeface="EB Garamond SemiBold"/>
              </a:rPr>
              <a:t>Revised bulk parameterisation for heat fluxes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Google Shape;71;p15"/>
          <p:cNvSpPr/>
          <p:nvPr/>
        </p:nvSpPr>
        <p:spPr>
          <a:xfrm>
            <a:off x="1721880" y="1167120"/>
            <a:ext cx="5308920" cy="84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8" name="Google Shape;72;p15" descr=""/>
          <p:cNvPicPr/>
          <p:nvPr/>
        </p:nvPicPr>
        <p:blipFill>
          <a:blip r:embed="rId2"/>
          <a:stretch/>
        </p:blipFill>
        <p:spPr>
          <a:xfrm>
            <a:off x="3153960" y="1306800"/>
            <a:ext cx="2622960" cy="1184040"/>
          </a:xfrm>
          <a:prstGeom prst="rect">
            <a:avLst/>
          </a:prstGeom>
          <a:ln w="0">
            <a:noFill/>
          </a:ln>
          <a:effectLst>
            <a:outerShdw algn="bl" blurRad="57240" dir="5400000" dist="47520" rotWithShape="0">
              <a:srgbClr val="000000">
                <a:alpha val="5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title"/>
          </p:nvPr>
        </p:nvSpPr>
        <p:spPr>
          <a:xfrm>
            <a:off x="104040" y="354240"/>
            <a:ext cx="8520120" cy="419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EB Garamond SemiBold"/>
                <a:ea typeface="EB Garamond SemiBold"/>
              </a:rPr>
              <a:t>Revised bulk parameterisation for heat fluxes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0" name="Google Shape;78;p16"/>
          <p:cNvSpPr/>
          <p:nvPr/>
        </p:nvSpPr>
        <p:spPr>
          <a:xfrm>
            <a:off x="1721880" y="1167120"/>
            <a:ext cx="5308920" cy="84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1" name="Google Shape;79;p16" descr=""/>
          <p:cNvPicPr/>
          <p:nvPr/>
        </p:nvPicPr>
        <p:blipFill>
          <a:blip r:embed="rId2"/>
          <a:stretch/>
        </p:blipFill>
        <p:spPr>
          <a:xfrm>
            <a:off x="3153960" y="849600"/>
            <a:ext cx="2622960" cy="1184040"/>
          </a:xfrm>
          <a:prstGeom prst="rect">
            <a:avLst/>
          </a:prstGeom>
          <a:ln w="0">
            <a:noFill/>
          </a:ln>
          <a:effectLst>
            <a:outerShdw algn="bl" blurRad="57240" dir="5400000" dist="47520" rotWithShape="0">
              <a:srgbClr val="000000">
                <a:alpha val="50000"/>
              </a:srgbClr>
            </a:outerShdw>
          </a:effectLst>
        </p:spPr>
      </p:pic>
      <p:sp>
        <p:nvSpPr>
          <p:cNvPr id="92" name="Google Shape;80;p16"/>
          <p:cNvSpPr/>
          <p:nvPr/>
        </p:nvSpPr>
        <p:spPr>
          <a:xfrm>
            <a:off x="5620320" y="3687840"/>
            <a:ext cx="2124720" cy="46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EB Garamond Medium"/>
                <a:ea typeface="EB Garamond Medium"/>
              </a:rPr>
              <a:t>Lee and Meyers 2023</a:t>
            </a:r>
            <a:endParaRPr b="0" lang="en-US" sz="1800" spc="-1" strike="noStrike">
              <a:latin typeface="LM Roman 10"/>
            </a:endParaRPr>
          </a:p>
        </p:txBody>
      </p:sp>
      <p:pic>
        <p:nvPicPr>
          <p:cNvPr id="93" name="Google Shape;81;p16" descr=""/>
          <p:cNvPicPr/>
          <p:nvPr/>
        </p:nvPicPr>
        <p:blipFill>
          <a:blip r:embed="rId3"/>
          <a:stretch/>
        </p:blipFill>
        <p:spPr>
          <a:xfrm>
            <a:off x="3030480" y="2908080"/>
            <a:ext cx="2377440" cy="592200"/>
          </a:xfrm>
          <a:prstGeom prst="rect">
            <a:avLst/>
          </a:prstGeom>
          <a:ln w="0">
            <a:noFill/>
          </a:ln>
        </p:spPr>
      </p:pic>
      <p:pic>
        <p:nvPicPr>
          <p:cNvPr id="94" name="Google Shape;82;p16" descr=""/>
          <p:cNvPicPr/>
          <p:nvPr/>
        </p:nvPicPr>
        <p:blipFill>
          <a:blip r:embed="rId4"/>
          <a:stretch/>
        </p:blipFill>
        <p:spPr>
          <a:xfrm>
            <a:off x="150480" y="1824120"/>
            <a:ext cx="2849040" cy="2759760"/>
          </a:xfrm>
          <a:prstGeom prst="rect">
            <a:avLst/>
          </a:prstGeom>
          <a:ln w="0">
            <a:noFill/>
          </a:ln>
        </p:spPr>
      </p:pic>
      <p:pic>
        <p:nvPicPr>
          <p:cNvPr id="95" name="Google Shape;83;p16" descr=""/>
          <p:cNvPicPr/>
          <p:nvPr/>
        </p:nvPicPr>
        <p:blipFill>
          <a:blip r:embed="rId5"/>
          <a:stretch/>
        </p:blipFill>
        <p:spPr>
          <a:xfrm>
            <a:off x="5685840" y="2951280"/>
            <a:ext cx="2099520" cy="592200"/>
          </a:xfrm>
          <a:prstGeom prst="rect">
            <a:avLst/>
          </a:prstGeom>
          <a:ln w="0">
            <a:noFill/>
          </a:ln>
        </p:spPr>
      </p:pic>
      <p:sp>
        <p:nvSpPr>
          <p:cNvPr id="96" name="Google Shape;84;p16"/>
          <p:cNvSpPr/>
          <p:nvPr/>
        </p:nvSpPr>
        <p:spPr>
          <a:xfrm>
            <a:off x="5561280" y="2984040"/>
            <a:ext cx="360" cy="5119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 w="19050">
            <a:solidFill>
              <a:srgbClr val="999999"/>
            </a:solidFill>
            <a:prstDash val="dashDot"/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Google Shape;85;p16"/>
          <p:cNvSpPr/>
          <p:nvPr/>
        </p:nvSpPr>
        <p:spPr>
          <a:xfrm>
            <a:off x="3378600" y="2713680"/>
            <a:ext cx="1404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rgbClr val="000000"/>
                </a:solidFill>
                <a:latin typeface="EB Garamond Medium"/>
                <a:ea typeface="EB Garamond Medium"/>
              </a:rPr>
              <a:t>Unstable, Rib &lt; 0</a:t>
            </a:r>
            <a:endParaRPr b="0" lang="en-US" sz="1300" spc="-1" strike="noStrike">
              <a:latin typeface="LM Roman 10"/>
            </a:endParaRPr>
          </a:p>
        </p:txBody>
      </p:sp>
      <p:sp>
        <p:nvSpPr>
          <p:cNvPr id="98" name="Google Shape;86;p16"/>
          <p:cNvSpPr/>
          <p:nvPr/>
        </p:nvSpPr>
        <p:spPr>
          <a:xfrm>
            <a:off x="5836320" y="2670480"/>
            <a:ext cx="1404720" cy="237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rgbClr val="000000"/>
                </a:solidFill>
                <a:latin typeface="EB Garamond Medium"/>
                <a:ea typeface="EB Garamond Medium"/>
              </a:rPr>
              <a:t>Stable, Rib &gt; 0</a:t>
            </a:r>
            <a:endParaRPr b="0" lang="en-US" sz="1300" spc="-1" strike="noStrike">
              <a:latin typeface="LM Roman 10"/>
            </a:endParaRPr>
          </a:p>
        </p:txBody>
      </p:sp>
      <p:pic>
        <p:nvPicPr>
          <p:cNvPr id="99" name="Google Shape;87;p16" descr=""/>
          <p:cNvPicPr/>
          <p:nvPr/>
        </p:nvPicPr>
        <p:blipFill>
          <a:blip r:embed="rId6"/>
          <a:stretch/>
        </p:blipFill>
        <p:spPr>
          <a:xfrm>
            <a:off x="3250440" y="3749400"/>
            <a:ext cx="2053800" cy="62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104040" y="354240"/>
            <a:ext cx="8520120" cy="4197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EB Garamond SemiBold"/>
                <a:ea typeface="EB Garamond SemiBold"/>
              </a:rPr>
              <a:t>Revised bulk parameterisation for heat fluxes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Google Shape;93;p17"/>
          <p:cNvSpPr/>
          <p:nvPr/>
        </p:nvSpPr>
        <p:spPr>
          <a:xfrm>
            <a:off x="1721880" y="1167120"/>
            <a:ext cx="5308920" cy="842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2" name="Google Shape;94;p17" descr=""/>
          <p:cNvPicPr/>
          <p:nvPr/>
        </p:nvPicPr>
        <p:blipFill>
          <a:blip r:embed="rId2"/>
          <a:stretch/>
        </p:blipFill>
        <p:spPr>
          <a:xfrm>
            <a:off x="1721880" y="1167120"/>
            <a:ext cx="5437440" cy="1814760"/>
          </a:xfrm>
          <a:prstGeom prst="rect">
            <a:avLst/>
          </a:prstGeom>
          <a:ln w="0">
            <a:noFill/>
          </a:ln>
          <a:effectLst>
            <a:outerShdw algn="bl" blurRad="57240" dir="5400000" dist="47520" rotWithShape="0">
              <a:srgbClr val="000000">
                <a:alpha val="50000"/>
              </a:srgbClr>
            </a:outerShdw>
          </a:effectLst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sldNum" idx="3"/>
          </p:nvPr>
        </p:nvSpPr>
        <p:spPr>
          <a:xfrm>
            <a:off x="8472600" y="3497400"/>
            <a:ext cx="548280" cy="2948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rmAutofit fontScale="74000"/>
          </a:bodyPr>
          <a:lstStyle>
            <a:lvl1pPr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rgbClr val="595959"/>
                </a:solidFill>
                <a:latin typeface="Arial"/>
                <a:ea typeface="Arial"/>
              </a:defRPr>
            </a:lvl1pPr>
          </a:lstStyle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fld id="{BE986DEF-E414-48EE-B703-4999FF66E2D1}" type="slidenum">
              <a:rPr b="0" lang="en" sz="1000" spc="-1" strike="noStrike">
                <a:solidFill>
                  <a:srgbClr val="595959"/>
                </a:solidFill>
                <a:latin typeface="Arial"/>
                <a:ea typeface="Arial"/>
              </a:rPr>
              <a:t>&lt;number&gt;</a:t>
            </a:fld>
            <a:endParaRPr b="0" lang="en-US" sz="1000" spc="-1" strike="noStrike">
              <a:latin typeface="Times New Roman"/>
            </a:endParaRPr>
          </a:p>
        </p:txBody>
      </p:sp>
      <p:pic>
        <p:nvPicPr>
          <p:cNvPr id="104" name="Google Shape;100;p18" descr=""/>
          <p:cNvPicPr/>
          <p:nvPr/>
        </p:nvPicPr>
        <p:blipFill>
          <a:blip r:embed="rId2"/>
          <a:stretch/>
        </p:blipFill>
        <p:spPr>
          <a:xfrm>
            <a:off x="288000" y="984240"/>
            <a:ext cx="4826160" cy="3619440"/>
          </a:xfrm>
          <a:prstGeom prst="rect">
            <a:avLst/>
          </a:prstGeom>
          <a:ln w="0">
            <a:noFill/>
          </a:ln>
        </p:spPr>
      </p:pic>
      <p:sp>
        <p:nvSpPr>
          <p:cNvPr id="105" name="Google Shape;101;p18"/>
          <p:cNvSpPr/>
          <p:nvPr/>
        </p:nvSpPr>
        <p:spPr>
          <a:xfrm>
            <a:off x="5348160" y="1587600"/>
            <a:ext cx="3795480" cy="3016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EB Garamond Medium"/>
                <a:ea typeface="EB Garamond Medium"/>
              </a:rPr>
              <a:t>Installed June 2001</a:t>
            </a:r>
            <a:endParaRPr b="0" lang="en-US" sz="18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LM Roman 10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EB Garamond Medium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EB Garamond Medium"/>
                <a:ea typeface="EB Garamond Medium"/>
              </a:rPr>
              <a:t>3 level wind and Ta profiles</a:t>
            </a:r>
            <a:endParaRPr b="0" lang="en-US" sz="1800" spc="-1" strike="noStrike">
              <a:latin typeface="LM Roman 10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EB Garamond Medium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EB Garamond Medium"/>
                <a:ea typeface="EB Garamond Medium"/>
              </a:rPr>
              <a:t>4-component radiometer</a:t>
            </a:r>
            <a:endParaRPr b="0" lang="en-US" sz="1800" spc="-1" strike="noStrike">
              <a:latin typeface="LM Roman 10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EB Garamond Medium"/>
              <a:buChar char="●"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EB Garamond Medium"/>
                <a:ea typeface="EB Garamond Medium"/>
              </a:rPr>
              <a:t>Uniform Soybean/corn canopy</a:t>
            </a:r>
            <a:endParaRPr b="0" lang="en-US" sz="1800" spc="-1" strike="noStrike">
              <a:latin typeface="LM Roman 10"/>
            </a:endParaRPr>
          </a:p>
          <a:p>
            <a:pPr marL="457200"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LM Roman 10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title"/>
          </p:nvPr>
        </p:nvSpPr>
        <p:spPr>
          <a:xfrm>
            <a:off x="345600" y="155880"/>
            <a:ext cx="4041000" cy="7128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000000"/>
                </a:solidFill>
                <a:latin typeface="EB Garamond SemiBold"/>
                <a:ea typeface="EB Garamond SemiBold"/>
              </a:rPr>
              <a:t>ARL Surface FLux Station, Bondville, IL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9" descr=""/>
          <p:cNvPicPr/>
          <p:nvPr/>
        </p:nvPicPr>
        <p:blipFill>
          <a:blip r:embed="rId2"/>
          <a:stretch/>
        </p:blipFill>
        <p:spPr>
          <a:xfrm>
            <a:off x="6143400" y="1960560"/>
            <a:ext cx="2181960" cy="668520"/>
          </a:xfrm>
          <a:prstGeom prst="rect">
            <a:avLst/>
          </a:prstGeom>
          <a:ln w="0">
            <a:noFill/>
          </a:ln>
        </p:spPr>
      </p:pic>
      <p:pic>
        <p:nvPicPr>
          <p:cNvPr id="108" name="Google Shape;108;p19" descr=""/>
          <p:cNvPicPr/>
          <p:nvPr/>
        </p:nvPicPr>
        <p:blipFill>
          <a:blip r:embed="rId3"/>
          <a:stretch/>
        </p:blipFill>
        <p:spPr>
          <a:xfrm>
            <a:off x="304920" y="838080"/>
            <a:ext cx="5838480" cy="3316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13;p20"/>
          <p:cNvSpPr/>
          <p:nvPr/>
        </p:nvSpPr>
        <p:spPr>
          <a:xfrm>
            <a:off x="770760" y="252000"/>
            <a:ext cx="5380920" cy="280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EB Garamond Medium"/>
                <a:ea typeface="EB Garamond Medium"/>
              </a:rPr>
              <a:t>Scaling relationship</a:t>
            </a:r>
            <a:endParaRPr b="0" lang="en-US" sz="2100" spc="-1" strike="noStrike">
              <a:latin typeface="LM Roman 10"/>
            </a:endParaRPr>
          </a:p>
        </p:txBody>
      </p:sp>
      <p:pic>
        <p:nvPicPr>
          <p:cNvPr id="110" name="Google Shape;114;p20" descr=""/>
          <p:cNvPicPr/>
          <p:nvPr/>
        </p:nvPicPr>
        <p:blipFill>
          <a:blip r:embed="rId2"/>
          <a:srcRect l="0" t="0" r="0" b="59091"/>
          <a:stretch/>
        </p:blipFill>
        <p:spPr>
          <a:xfrm>
            <a:off x="5376240" y="2553120"/>
            <a:ext cx="1803600" cy="191520"/>
          </a:xfrm>
          <a:prstGeom prst="rect">
            <a:avLst/>
          </a:prstGeom>
          <a:ln w="0">
            <a:noFill/>
          </a:ln>
        </p:spPr>
      </p:pic>
      <p:pic>
        <p:nvPicPr>
          <p:cNvPr id="111" name="Google Shape;115;p20" descr=""/>
          <p:cNvPicPr/>
          <p:nvPr/>
        </p:nvPicPr>
        <p:blipFill>
          <a:blip r:embed="rId3"/>
          <a:srcRect l="0" t="0" r="0" b="51634"/>
          <a:stretch/>
        </p:blipFill>
        <p:spPr>
          <a:xfrm>
            <a:off x="7039080" y="2571840"/>
            <a:ext cx="1803600" cy="226080"/>
          </a:xfrm>
          <a:prstGeom prst="rect">
            <a:avLst/>
          </a:prstGeom>
          <a:ln w="0">
            <a:noFill/>
          </a:ln>
        </p:spPr>
      </p:pic>
      <p:pic>
        <p:nvPicPr>
          <p:cNvPr id="112" name="Google Shape;116;p20" descr=""/>
          <p:cNvPicPr/>
          <p:nvPr/>
        </p:nvPicPr>
        <p:blipFill>
          <a:blip r:embed="rId4"/>
          <a:srcRect l="65035" t="26606" r="2640" b="65407"/>
          <a:stretch/>
        </p:blipFill>
        <p:spPr>
          <a:xfrm>
            <a:off x="7039080" y="2799360"/>
            <a:ext cx="1647360" cy="302400"/>
          </a:xfrm>
          <a:prstGeom prst="rect">
            <a:avLst/>
          </a:prstGeom>
          <a:ln w="0">
            <a:noFill/>
          </a:ln>
        </p:spPr>
      </p:pic>
      <p:pic>
        <p:nvPicPr>
          <p:cNvPr id="113" name="Google Shape;117;p20" descr=""/>
          <p:cNvPicPr/>
          <p:nvPr/>
        </p:nvPicPr>
        <p:blipFill>
          <a:blip r:embed="rId5"/>
          <a:srcRect l="21415" t="66156" r="43675" b="26812"/>
          <a:stretch/>
        </p:blipFill>
        <p:spPr>
          <a:xfrm>
            <a:off x="5302080" y="2799360"/>
            <a:ext cx="1683000" cy="251640"/>
          </a:xfrm>
          <a:prstGeom prst="rect">
            <a:avLst/>
          </a:prstGeom>
          <a:ln w="0">
            <a:noFill/>
          </a:ln>
        </p:spPr>
      </p:pic>
      <p:sp>
        <p:nvSpPr>
          <p:cNvPr id="114" name="Google Shape;118;p20"/>
          <p:cNvSpPr/>
          <p:nvPr/>
        </p:nvSpPr>
        <p:spPr>
          <a:xfrm>
            <a:off x="3745800" y="1116360"/>
            <a:ext cx="1375560" cy="432000"/>
          </a:xfrm>
          <a:prstGeom prst="rect">
            <a:avLst/>
          </a:prstGeom>
          <a:solidFill>
            <a:schemeClr val="lt1"/>
          </a:solidFill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</p:sp>
      <p:pic>
        <p:nvPicPr>
          <p:cNvPr id="115" name="Google Shape;119;p20" descr=""/>
          <p:cNvPicPr/>
          <p:nvPr/>
        </p:nvPicPr>
        <p:blipFill>
          <a:blip r:embed="rId6"/>
          <a:stretch/>
        </p:blipFill>
        <p:spPr>
          <a:xfrm>
            <a:off x="250200" y="1003680"/>
            <a:ext cx="4422240" cy="32896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24;p21"/>
          <p:cNvSpPr/>
          <p:nvPr/>
        </p:nvSpPr>
        <p:spPr>
          <a:xfrm>
            <a:off x="331200" y="295200"/>
            <a:ext cx="7880760" cy="28080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EB Garamond Medium"/>
                <a:ea typeface="EB Garamond Medium"/>
              </a:rPr>
              <a:t>Fully parameterized fluxes BNV Jul - Aug 2013</a:t>
            </a:r>
            <a:endParaRPr b="0" lang="en-US" sz="2100" spc="-1" strike="noStrike">
              <a:latin typeface="LM Roman 10"/>
            </a:endParaRPr>
          </a:p>
        </p:txBody>
      </p:sp>
      <p:pic>
        <p:nvPicPr>
          <p:cNvPr id="117" name="Google Shape;125;p21" descr=""/>
          <p:cNvPicPr/>
          <p:nvPr/>
        </p:nvPicPr>
        <p:blipFill>
          <a:blip r:embed="rId2"/>
          <a:srcRect l="0" t="8616" r="0" b="0"/>
          <a:stretch/>
        </p:blipFill>
        <p:spPr>
          <a:xfrm>
            <a:off x="331200" y="1117080"/>
            <a:ext cx="5580000" cy="2908800"/>
          </a:xfrm>
          <a:prstGeom prst="rect">
            <a:avLst/>
          </a:prstGeom>
          <a:ln w="0">
            <a:noFill/>
          </a:ln>
        </p:spPr>
      </p:pic>
      <p:pic>
        <p:nvPicPr>
          <p:cNvPr id="118" name="Google Shape;126;p21" descr=""/>
          <p:cNvPicPr/>
          <p:nvPr/>
        </p:nvPicPr>
        <p:blipFill>
          <a:blip r:embed="rId3"/>
          <a:srcRect l="0" t="28665" r="0" b="0"/>
          <a:stretch/>
        </p:blipFill>
        <p:spPr>
          <a:xfrm>
            <a:off x="6086880" y="2966400"/>
            <a:ext cx="2920680" cy="695160"/>
          </a:xfrm>
          <a:prstGeom prst="rect">
            <a:avLst/>
          </a:prstGeom>
          <a:ln w="0">
            <a:noFill/>
          </a:ln>
          <a:effectLst>
            <a:outerShdw algn="bl" blurRad="57240" dir="5400000" dist="47520" rotWithShape="0">
              <a:srgbClr val="000000">
                <a:alpha val="50000"/>
              </a:srgbClr>
            </a:outerShdw>
          </a:effectLst>
        </p:spPr>
      </p:pic>
      <p:sp>
        <p:nvSpPr>
          <p:cNvPr id="119" name="Google Shape;127;p21"/>
          <p:cNvSpPr/>
          <p:nvPr/>
        </p:nvSpPr>
        <p:spPr>
          <a:xfrm>
            <a:off x="6932520" y="2711520"/>
            <a:ext cx="4330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rgbClr val="ff0000"/>
                </a:solidFill>
                <a:latin typeface="EB Garamond"/>
                <a:ea typeface="EB Garamond"/>
              </a:rPr>
              <a:t>M1</a:t>
            </a:r>
            <a:endParaRPr b="0" lang="en-US" sz="1300" spc="-1" strike="noStrike">
              <a:latin typeface="LM Roman 10"/>
            </a:endParaRPr>
          </a:p>
        </p:txBody>
      </p:sp>
      <p:sp>
        <p:nvSpPr>
          <p:cNvPr id="120" name="Google Shape;128;p21"/>
          <p:cNvSpPr/>
          <p:nvPr/>
        </p:nvSpPr>
        <p:spPr>
          <a:xfrm>
            <a:off x="7999200" y="2743200"/>
            <a:ext cx="4330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rgbClr val="1155cc"/>
                </a:solidFill>
                <a:latin typeface="EB Garamond"/>
                <a:ea typeface="EB Garamond"/>
              </a:rPr>
              <a:t>M2</a:t>
            </a:r>
            <a:endParaRPr b="0" lang="en-US" sz="1300" spc="-1" strike="noStrike">
              <a:latin typeface="LM Roman 10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470160" y="1563480"/>
            <a:ext cx="8520120" cy="11350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500" spc="-1" strike="noStrike">
                <a:solidFill>
                  <a:srgbClr val="000000"/>
                </a:solidFill>
                <a:latin typeface="EB Garamond SemiBold"/>
                <a:ea typeface="EB Garamond SemiBold"/>
              </a:rPr>
              <a:t>How well does this hold up for complex sites? 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38;p23" descr=""/>
          <p:cNvPicPr/>
          <p:nvPr/>
        </p:nvPicPr>
        <p:blipFill>
          <a:blip r:embed="rId2"/>
          <a:srcRect l="0" t="0" r="0" b="19797"/>
          <a:stretch/>
        </p:blipFill>
        <p:spPr>
          <a:xfrm>
            <a:off x="0" y="-354960"/>
            <a:ext cx="9143640" cy="5497920"/>
          </a:xfrm>
          <a:prstGeom prst="rect">
            <a:avLst/>
          </a:prstGeom>
          <a:ln w="0">
            <a:noFill/>
          </a:ln>
        </p:spPr>
      </p:pic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345600" y="155880"/>
            <a:ext cx="5575320" cy="7128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EB Garamond SemiBold"/>
                <a:ea typeface="EB Garamond SemiBold"/>
              </a:rPr>
              <a:t>ARL Surface FLux Station, Crested Butte, CO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124" name="Google Shape;140;p23" descr="Logo&#10;&#10;Description automatically generated"/>
          <p:cNvPicPr/>
          <p:nvPr/>
        </p:nvPicPr>
        <p:blipFill>
          <a:blip r:embed="rId3"/>
          <a:stretch/>
        </p:blipFill>
        <p:spPr>
          <a:xfrm>
            <a:off x="6199560" y="-136080"/>
            <a:ext cx="2420280" cy="183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45;p24" descr=""/>
          <p:cNvPicPr/>
          <p:nvPr/>
        </p:nvPicPr>
        <p:blipFill>
          <a:blip r:embed="rId2"/>
          <a:srcRect l="12658" t="0" r="38402" b="0"/>
          <a:stretch/>
        </p:blipFill>
        <p:spPr>
          <a:xfrm>
            <a:off x="0" y="21240"/>
            <a:ext cx="4064400" cy="4739400"/>
          </a:xfrm>
          <a:prstGeom prst="rect">
            <a:avLst/>
          </a:prstGeom>
          <a:ln w="9525">
            <a:solidFill>
              <a:srgbClr val="595959"/>
            </a:solidFill>
            <a:round/>
          </a:ln>
        </p:spPr>
      </p:pic>
      <p:grpSp>
        <p:nvGrpSpPr>
          <p:cNvPr id="126" name="Google Shape;146;p24"/>
          <p:cNvGrpSpPr/>
          <p:nvPr/>
        </p:nvGrpSpPr>
        <p:grpSpPr>
          <a:xfrm>
            <a:off x="1330200" y="118080"/>
            <a:ext cx="1838160" cy="2917800"/>
            <a:chOff x="1330200" y="118080"/>
            <a:chExt cx="1838160" cy="2917800"/>
          </a:xfrm>
        </p:grpSpPr>
        <p:sp>
          <p:nvSpPr>
            <p:cNvPr id="127" name="Google Shape;147;p24"/>
            <p:cNvSpPr/>
            <p:nvPr/>
          </p:nvSpPr>
          <p:spPr>
            <a:xfrm>
              <a:off x="2585880" y="118080"/>
              <a:ext cx="582480" cy="599400"/>
            </a:xfrm>
            <a:prstGeom prst="ellipse">
              <a:avLst/>
            </a:prstGeom>
            <a:solidFill>
              <a:srgbClr val="ff00ff">
                <a:alpha val="16000"/>
              </a:srgbClr>
            </a:solidFill>
            <a:ln w="28575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Google Shape;148;p24"/>
            <p:cNvSpPr/>
            <p:nvPr/>
          </p:nvSpPr>
          <p:spPr>
            <a:xfrm>
              <a:off x="1330200" y="2436480"/>
              <a:ext cx="582480" cy="599400"/>
            </a:xfrm>
            <a:prstGeom prst="ellipse">
              <a:avLst/>
            </a:prstGeom>
            <a:solidFill>
              <a:srgbClr val="ff00ff">
                <a:alpha val="24000"/>
              </a:srgbClr>
            </a:solidFill>
            <a:ln w="28575">
              <a:solidFill>
                <a:srgbClr val="ff0000"/>
              </a:solidFill>
              <a:round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29" name="Google Shape;149;p24"/>
          <p:cNvSpPr/>
          <p:nvPr/>
        </p:nvSpPr>
        <p:spPr>
          <a:xfrm>
            <a:off x="4510080" y="118080"/>
            <a:ext cx="4653360" cy="307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0" name="Google Shape;150;p24"/>
          <p:cNvSpPr/>
          <p:nvPr/>
        </p:nvSpPr>
        <p:spPr>
          <a:xfrm>
            <a:off x="4375080" y="600840"/>
            <a:ext cx="4653360" cy="25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68400" rIns="68400" tIns="68400" bIns="6840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EB Garamond"/>
                <a:ea typeface="EB Garamond"/>
              </a:rPr>
              <a:t>Eddy covariance at 3 and 10 m</a:t>
            </a:r>
            <a:endParaRPr b="0" lang="en-US" sz="20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EB Garamond"/>
                <a:ea typeface="EB Garamond"/>
              </a:rPr>
              <a:t>LI-7500 DS for H2O and CO2</a:t>
            </a:r>
            <a:endParaRPr b="0" lang="en-US" sz="20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EB Garamond"/>
                <a:ea typeface="EB Garamond"/>
              </a:rPr>
              <a:t>Smartflux system with RM Young VRE Sonic</a:t>
            </a:r>
            <a:endParaRPr b="0" lang="en-US" sz="20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EB Garamond"/>
                <a:ea typeface="EB Garamond"/>
              </a:rPr>
              <a:t>EddyPro processing software</a:t>
            </a:r>
            <a:endParaRPr b="0" lang="en-US" sz="20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000" spc="-1" strike="noStrike">
                <a:solidFill>
                  <a:srgbClr val="000000"/>
                </a:solidFill>
                <a:latin typeface="EB Garamond"/>
                <a:ea typeface="EB Garamond"/>
              </a:rPr>
              <a:t>10 Hz sampling, output 30 minute average</a:t>
            </a:r>
            <a:endParaRPr b="0" lang="en-US" sz="20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000" spc="-1" strike="noStrike">
              <a:latin typeface="LM Roman 10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55;p25"/>
          <p:cNvSpPr/>
          <p:nvPr/>
        </p:nvSpPr>
        <p:spPr>
          <a:xfrm>
            <a:off x="5737320" y="1750680"/>
            <a:ext cx="3450240" cy="396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EB Garamond"/>
              <a:buChar char="●"/>
            </a:pPr>
            <a:r>
              <a:rPr b="0" lang="en" sz="1800" spc="-1" strike="noStrike">
                <a:solidFill>
                  <a:srgbClr val="000000"/>
                </a:solidFill>
                <a:latin typeface="EB Garamond"/>
                <a:ea typeface="EB Garamond"/>
              </a:rPr>
              <a:t>Complicated stable conditions</a:t>
            </a:r>
            <a:endParaRPr b="0" lang="en-US" sz="1800" spc="-1" strike="noStrike">
              <a:latin typeface="LM Roman 10"/>
            </a:endParaRPr>
          </a:p>
          <a:p>
            <a:pPr marL="457200" indent="-343080">
              <a:lnSpc>
                <a:spcPct val="100000"/>
              </a:lnSpc>
              <a:buClr>
                <a:srgbClr val="000000"/>
              </a:buClr>
              <a:buFont typeface="EB Garamond"/>
              <a:buChar char="●"/>
            </a:pPr>
            <a:r>
              <a:rPr b="0" lang="en" sz="1800" spc="-1" strike="noStrike">
                <a:solidFill>
                  <a:srgbClr val="000000"/>
                </a:solidFill>
                <a:latin typeface="EB Garamond"/>
                <a:ea typeface="EB Garamond"/>
              </a:rPr>
              <a:t>Much more scatter for u,v, u*</a:t>
            </a:r>
            <a:endParaRPr b="0" lang="en-US" sz="18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1800" spc="-1" strike="noStrike">
              <a:latin typeface="LM Roman 10"/>
            </a:endParaRPr>
          </a:p>
        </p:txBody>
      </p:sp>
      <p:sp>
        <p:nvSpPr>
          <p:cNvPr id="132" name="Google Shape;156;p25"/>
          <p:cNvSpPr/>
          <p:nvPr/>
        </p:nvSpPr>
        <p:spPr>
          <a:xfrm>
            <a:off x="4925880" y="1333440"/>
            <a:ext cx="4086000" cy="46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33" name="Google Shape;157;p25" descr=""/>
          <p:cNvPicPr/>
          <p:nvPr/>
        </p:nvPicPr>
        <p:blipFill>
          <a:blip r:embed="rId2"/>
          <a:stretch/>
        </p:blipFill>
        <p:spPr>
          <a:xfrm>
            <a:off x="152280" y="576000"/>
            <a:ext cx="5622120" cy="31939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62;p26" descr=""/>
          <p:cNvPicPr/>
          <p:nvPr/>
        </p:nvPicPr>
        <p:blipFill>
          <a:blip r:embed="rId2"/>
          <a:stretch/>
        </p:blipFill>
        <p:spPr>
          <a:xfrm>
            <a:off x="152280" y="409320"/>
            <a:ext cx="5531040" cy="41144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67;p27" descr=""/>
          <p:cNvPicPr/>
          <p:nvPr/>
        </p:nvPicPr>
        <p:blipFill>
          <a:blip r:embed="rId2"/>
          <a:stretch/>
        </p:blipFill>
        <p:spPr>
          <a:xfrm>
            <a:off x="83520" y="972720"/>
            <a:ext cx="5839920" cy="2865600"/>
          </a:xfrm>
          <a:prstGeom prst="rect">
            <a:avLst/>
          </a:prstGeom>
          <a:ln w="0">
            <a:noFill/>
          </a:ln>
        </p:spPr>
      </p:pic>
      <p:pic>
        <p:nvPicPr>
          <p:cNvPr id="136" name="Google Shape;168;p27" descr=""/>
          <p:cNvPicPr/>
          <p:nvPr/>
        </p:nvPicPr>
        <p:blipFill>
          <a:blip r:embed="rId3"/>
          <a:srcRect l="0" t="28665" r="0" b="0"/>
          <a:stretch/>
        </p:blipFill>
        <p:spPr>
          <a:xfrm>
            <a:off x="6086880" y="2509200"/>
            <a:ext cx="2920680" cy="695160"/>
          </a:xfrm>
          <a:prstGeom prst="rect">
            <a:avLst/>
          </a:prstGeom>
          <a:ln w="0">
            <a:noFill/>
          </a:ln>
          <a:effectLst>
            <a:outerShdw algn="bl" blurRad="57240" dir="5400000" dist="47520" rotWithShape="0">
              <a:srgbClr val="000000">
                <a:alpha val="50000"/>
              </a:srgbClr>
            </a:outerShdw>
          </a:effectLst>
        </p:spPr>
      </p:pic>
      <p:sp>
        <p:nvSpPr>
          <p:cNvPr id="137" name="Google Shape;169;p27"/>
          <p:cNvSpPr/>
          <p:nvPr/>
        </p:nvSpPr>
        <p:spPr>
          <a:xfrm>
            <a:off x="6932520" y="2254320"/>
            <a:ext cx="4330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rgbClr val="ff0000"/>
                </a:solidFill>
                <a:latin typeface="EB Garamond"/>
                <a:ea typeface="EB Garamond"/>
              </a:rPr>
              <a:t>M1</a:t>
            </a:r>
            <a:endParaRPr b="0" lang="en-US" sz="1300" spc="-1" strike="noStrike">
              <a:latin typeface="LM Roman 10"/>
            </a:endParaRPr>
          </a:p>
        </p:txBody>
      </p:sp>
      <p:sp>
        <p:nvSpPr>
          <p:cNvPr id="138" name="Google Shape;170;p27"/>
          <p:cNvSpPr/>
          <p:nvPr/>
        </p:nvSpPr>
        <p:spPr>
          <a:xfrm>
            <a:off x="7999200" y="2286000"/>
            <a:ext cx="4330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rgbClr val="1155cc"/>
                </a:solidFill>
                <a:latin typeface="EB Garamond"/>
                <a:ea typeface="EB Garamond"/>
              </a:rPr>
              <a:t>M2</a:t>
            </a:r>
            <a:endParaRPr b="0" lang="en-US" sz="1300" spc="-1" strike="noStrike">
              <a:latin typeface="LM Roman 10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75;p28" descr=""/>
          <p:cNvPicPr/>
          <p:nvPr/>
        </p:nvPicPr>
        <p:blipFill>
          <a:blip r:embed="rId2"/>
          <a:stretch/>
        </p:blipFill>
        <p:spPr>
          <a:xfrm>
            <a:off x="87120" y="1015920"/>
            <a:ext cx="5721480" cy="2807640"/>
          </a:xfrm>
          <a:prstGeom prst="rect">
            <a:avLst/>
          </a:prstGeom>
          <a:ln w="0">
            <a:noFill/>
          </a:ln>
        </p:spPr>
      </p:pic>
      <p:sp>
        <p:nvSpPr>
          <p:cNvPr id="140" name="Google Shape;176;p28"/>
          <p:cNvSpPr/>
          <p:nvPr/>
        </p:nvSpPr>
        <p:spPr>
          <a:xfrm>
            <a:off x="188280" y="321120"/>
            <a:ext cx="806580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EB Garamond Medium"/>
                <a:ea typeface="EB Garamond Medium"/>
              </a:rPr>
              <a:t>Using the BNV formulation </a:t>
            </a:r>
            <a:endParaRPr b="0" lang="en-US" sz="21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100" spc="-1" strike="noStrike">
              <a:latin typeface="LM Roman 10"/>
            </a:endParaRPr>
          </a:p>
        </p:txBody>
      </p:sp>
      <p:pic>
        <p:nvPicPr>
          <p:cNvPr id="141" name="Google Shape;177;p28" descr=""/>
          <p:cNvPicPr/>
          <p:nvPr/>
        </p:nvPicPr>
        <p:blipFill>
          <a:blip r:embed="rId3"/>
          <a:srcRect l="0" t="28665" r="0" b="0"/>
          <a:stretch/>
        </p:blipFill>
        <p:spPr>
          <a:xfrm>
            <a:off x="6086880" y="2509200"/>
            <a:ext cx="2920680" cy="695160"/>
          </a:xfrm>
          <a:prstGeom prst="rect">
            <a:avLst/>
          </a:prstGeom>
          <a:ln w="0">
            <a:noFill/>
          </a:ln>
          <a:effectLst>
            <a:outerShdw algn="bl" blurRad="57240" dir="5400000" dist="47520" rotWithShape="0">
              <a:srgbClr val="000000">
                <a:alpha val="50000"/>
              </a:srgbClr>
            </a:outerShdw>
          </a:effectLst>
        </p:spPr>
      </p:pic>
      <p:sp>
        <p:nvSpPr>
          <p:cNvPr id="142" name="Google Shape;178;p28"/>
          <p:cNvSpPr/>
          <p:nvPr/>
        </p:nvSpPr>
        <p:spPr>
          <a:xfrm>
            <a:off x="6932520" y="2254320"/>
            <a:ext cx="4330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rgbClr val="ff0000"/>
                </a:solidFill>
                <a:latin typeface="EB Garamond"/>
                <a:ea typeface="EB Garamond"/>
              </a:rPr>
              <a:t>M1</a:t>
            </a:r>
            <a:endParaRPr b="0" lang="en-US" sz="1300" spc="-1" strike="noStrike">
              <a:latin typeface="LM Roman 10"/>
            </a:endParaRPr>
          </a:p>
        </p:txBody>
      </p:sp>
      <p:sp>
        <p:nvSpPr>
          <p:cNvPr id="143" name="Google Shape;179;p28"/>
          <p:cNvSpPr/>
          <p:nvPr/>
        </p:nvSpPr>
        <p:spPr>
          <a:xfrm>
            <a:off x="7999200" y="2286000"/>
            <a:ext cx="433080" cy="20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300" spc="-1" strike="noStrike">
                <a:solidFill>
                  <a:srgbClr val="1155cc"/>
                </a:solidFill>
                <a:latin typeface="EB Garamond"/>
                <a:ea typeface="EB Garamond"/>
              </a:rPr>
              <a:t>M2</a:t>
            </a:r>
            <a:endParaRPr b="0" lang="en-US" sz="1300" spc="-1" strike="noStrike">
              <a:latin typeface="LM Roman 10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blipFill rotWithShape="0">
          <a:blip r:embed="rId1"/>
          <a:stretch/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/>
          </p:nvPr>
        </p:nvSpPr>
        <p:spPr>
          <a:xfrm>
            <a:off x="845280" y="1152360"/>
            <a:ext cx="8520120" cy="3416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rmAutofit/>
          </a:bodyPr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EB Garamond"/>
              <a:buChar char="●"/>
            </a:pPr>
            <a:r>
              <a:rPr b="0" lang="en" sz="1800" spc="-1" strike="noStrike">
                <a:solidFill>
                  <a:srgbClr val="000000"/>
                </a:solidFill>
                <a:latin typeface="EB Garamond"/>
                <a:ea typeface="EB Garamond"/>
              </a:rPr>
              <a:t>σ</a:t>
            </a:r>
            <a:r>
              <a:rPr b="0" lang="en" sz="1800" spc="-1" strike="noStrike" baseline="-25000">
                <a:solidFill>
                  <a:srgbClr val="000000"/>
                </a:solidFill>
                <a:latin typeface="EB Garamond"/>
                <a:ea typeface="EB Garamond"/>
              </a:rPr>
              <a:t>w</a:t>
            </a:r>
            <a:r>
              <a:rPr b="0" lang="en" sz="1800" spc="-1" strike="noStrike">
                <a:solidFill>
                  <a:srgbClr val="000000"/>
                </a:solidFill>
                <a:latin typeface="EB Garamond"/>
                <a:ea typeface="EB Garamond"/>
              </a:rPr>
              <a:t>/U can be written as a function of the bulk Richardson number, easier to measure routinely with vertical gradients and gap fill data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EB Garamond"/>
              <a:buChar char="●"/>
            </a:pPr>
            <a:r>
              <a:rPr b="0" lang="en" sz="1800" spc="-1" strike="noStrike">
                <a:solidFill>
                  <a:srgbClr val="000000"/>
                </a:solidFill>
                <a:latin typeface="EB Garamond"/>
                <a:ea typeface="EB Garamond"/>
              </a:rPr>
              <a:t>Formulation from an ‘ideal’ site could be extended to more complex sites and fetches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EB Garamond"/>
              <a:buChar char="●"/>
            </a:pPr>
            <a:r>
              <a:rPr b="0" lang="en" sz="1800" spc="-1" strike="noStrike">
                <a:solidFill>
                  <a:srgbClr val="000000"/>
                </a:solidFill>
                <a:latin typeface="EB Garamond"/>
                <a:ea typeface="EB Garamond"/>
              </a:rPr>
              <a:t>We still need some prior data from the particular field station to estimate the ‘bulk coefficient’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EB Garamond"/>
              <a:buChar char="●"/>
            </a:pPr>
            <a:r>
              <a:rPr b="0" lang="en" sz="1800" spc="-1" strike="noStrike">
                <a:solidFill>
                  <a:srgbClr val="000000"/>
                </a:solidFill>
                <a:latin typeface="EB Garamond"/>
                <a:ea typeface="EB Garamond"/>
              </a:rPr>
              <a:t>Refine calculations for LE and q</a:t>
            </a:r>
            <a:r>
              <a:rPr b="0" lang="en" sz="1800" spc="-1" strike="noStrike" baseline="-25000">
                <a:solidFill>
                  <a:srgbClr val="000000"/>
                </a:solidFill>
                <a:latin typeface="EB Garamond"/>
                <a:ea typeface="EB Garamond"/>
              </a:rPr>
              <a:t>s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 indent="-343080">
              <a:lnSpc>
                <a:spcPct val="115000"/>
              </a:lnSpc>
              <a:buClr>
                <a:srgbClr val="000000"/>
              </a:buClr>
              <a:buFont typeface="EB Garamond"/>
              <a:buChar char="●"/>
            </a:pPr>
            <a:r>
              <a:rPr b="0" lang="en" sz="1800" spc="-1" strike="noStrike">
                <a:solidFill>
                  <a:srgbClr val="000000"/>
                </a:solidFill>
                <a:latin typeface="EB Garamond"/>
                <a:ea typeface="EB Garamond"/>
              </a:rPr>
              <a:t>Investigate the dependence on Ts 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marL="457200">
              <a:lnSpc>
                <a:spcPct val="115000"/>
              </a:lnSpc>
              <a:spcBef>
                <a:spcPts val="1199"/>
              </a:spcBef>
              <a:spcAft>
                <a:spcPts val="1199"/>
              </a:spcAft>
              <a:buNone/>
              <a:tabLst>
                <a:tab algn="l" pos="0"/>
              </a:tabLst>
            </a:pP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title"/>
          </p:nvPr>
        </p:nvSpPr>
        <p:spPr>
          <a:xfrm>
            <a:off x="879120" y="155880"/>
            <a:ext cx="4041000" cy="7128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EB Garamond SemiBold"/>
                <a:ea typeface="EB Garamond SemiBold"/>
              </a:rPr>
              <a:t>Conclusions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3522960" y="1704960"/>
            <a:ext cx="1915920" cy="71280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200" spc="-1" strike="noStrike">
                <a:solidFill>
                  <a:srgbClr val="000000"/>
                </a:solidFill>
                <a:latin typeface="EB Garamond SemiBold"/>
                <a:ea typeface="EB Garamond SemiBold"/>
              </a:rPr>
              <a:t>Thank you!</a:t>
            </a: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2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Google Shape;191;p30"/>
          <p:cNvSpPr/>
          <p:nvPr/>
        </p:nvSpPr>
        <p:spPr>
          <a:xfrm>
            <a:off x="241560" y="3076200"/>
            <a:ext cx="250092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EB Garamond Medium"/>
                <a:ea typeface="EB Garamond Medium"/>
              </a:rPr>
              <a:t>sreenath.paleri@noaa.gov</a:t>
            </a:r>
            <a:endParaRPr b="0" lang="en-US" sz="1800" spc="-1" strike="noStrike">
              <a:latin typeface="LM Roman 10"/>
            </a:endParaRPr>
          </a:p>
        </p:txBody>
      </p:sp>
      <p:sp>
        <p:nvSpPr>
          <p:cNvPr id="148" name="Google Shape;192;p30"/>
          <p:cNvSpPr/>
          <p:nvPr/>
        </p:nvSpPr>
        <p:spPr>
          <a:xfrm>
            <a:off x="7328160" y="3076200"/>
            <a:ext cx="1783440" cy="551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EB Garamond Medium"/>
                <a:ea typeface="EB Garamond Medium"/>
              </a:rPr>
              <a:t>spaleri@ou.edu</a:t>
            </a:r>
            <a:endParaRPr b="0" lang="en-US" sz="1800" spc="-1" strike="noStrike">
              <a:latin typeface="LM Roman 10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97;p31"/>
          <p:cNvSpPr/>
          <p:nvPr/>
        </p:nvSpPr>
        <p:spPr>
          <a:xfrm>
            <a:off x="331200" y="295200"/>
            <a:ext cx="7880760" cy="280800"/>
          </a:xfrm>
          <a:prstGeom prst="rect">
            <a:avLst/>
          </a:prstGeom>
          <a:noFill/>
          <a:ln w="9525">
            <a:solidFill>
              <a:srgbClr val="ffffff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tIns="182880" bIns="18288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2100" spc="-1" strike="noStrike">
                <a:solidFill>
                  <a:srgbClr val="000000"/>
                </a:solidFill>
                <a:latin typeface="EB Garamond Medium"/>
                <a:ea typeface="EB Garamond Medium"/>
              </a:rPr>
              <a:t>Fully parameterized fluxes BNV, comparing 2m air temp.</a:t>
            </a:r>
            <a:endParaRPr b="0" lang="en-US" sz="2100" spc="-1" strike="noStrike">
              <a:latin typeface="LM Roman 10"/>
            </a:endParaRPr>
          </a:p>
        </p:txBody>
      </p:sp>
      <p:sp>
        <p:nvSpPr>
          <p:cNvPr id="150" name="Google Shape;198;p31"/>
          <p:cNvSpPr/>
          <p:nvPr/>
        </p:nvSpPr>
        <p:spPr>
          <a:xfrm>
            <a:off x="6698520" y="1988280"/>
            <a:ext cx="2563920" cy="669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The modeled H is lower.</a:t>
            </a:r>
            <a:endParaRPr b="0" lang="en-US" sz="18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Need to capture the higher surface temps</a:t>
            </a:r>
            <a:endParaRPr b="0" lang="en-US" sz="18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How imp is it to use our improved method?</a:t>
            </a:r>
            <a:endParaRPr b="0" lang="en-US" sz="1800" spc="-1" strike="noStrike">
              <a:latin typeface="LM Roman 10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rgbClr val="595959"/>
                </a:solidFill>
                <a:latin typeface="Arial"/>
                <a:ea typeface="Arial"/>
              </a:rPr>
              <a:t>Will mostly move this to extra slides for now.</a:t>
            </a:r>
            <a:endParaRPr b="0" lang="en-US" sz="1800" spc="-1" strike="noStrike">
              <a:latin typeface="LM Roman 10"/>
            </a:endParaRPr>
          </a:p>
        </p:txBody>
      </p:sp>
      <p:pic>
        <p:nvPicPr>
          <p:cNvPr id="151" name="Google Shape;199;p31" descr=""/>
          <p:cNvPicPr/>
          <p:nvPr/>
        </p:nvPicPr>
        <p:blipFill>
          <a:blip r:embed="rId1"/>
          <a:stretch/>
        </p:blipFill>
        <p:spPr>
          <a:xfrm>
            <a:off x="195480" y="1031760"/>
            <a:ext cx="6566040" cy="368928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"/>
          <p:cNvGrpSpPr/>
          <p:nvPr/>
        </p:nvGrpSpPr>
        <p:grpSpPr>
          <a:xfrm>
            <a:off x="250200" y="914400"/>
            <a:ext cx="8208000" cy="3094920"/>
            <a:chOff x="250200" y="914400"/>
            <a:chExt cx="8208000" cy="3094920"/>
          </a:xfrm>
        </p:grpSpPr>
        <p:pic>
          <p:nvPicPr>
            <p:cNvPr id="153" name="Google Shape;119;p 1" descr=""/>
            <p:cNvPicPr/>
            <p:nvPr/>
          </p:nvPicPr>
          <p:blipFill>
            <a:blip r:embed="rId1"/>
            <a:stretch/>
          </p:blipFill>
          <p:spPr>
            <a:xfrm>
              <a:off x="250200" y="914400"/>
              <a:ext cx="4093200" cy="30448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54" name="Google Shape;162;p 1" descr=""/>
            <p:cNvPicPr/>
            <p:nvPr/>
          </p:nvPicPr>
          <p:blipFill>
            <a:blip r:embed="rId2"/>
            <a:stretch/>
          </p:blipFill>
          <p:spPr>
            <a:xfrm>
              <a:off x="4343400" y="948600"/>
              <a:ext cx="4114800" cy="306072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155" name=""/>
            <p:cNvSpPr txBox="1"/>
            <p:nvPr/>
          </p:nvSpPr>
          <p:spPr>
            <a:xfrm>
              <a:off x="1143000" y="1188000"/>
              <a:ext cx="914400" cy="3067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200" spc="-1" strike="noStrike">
                  <a:latin typeface="LM Roman 10"/>
                </a:rPr>
                <a:t>a) BNV </a:t>
              </a:r>
              <a:endParaRPr b="0" lang="en-US" sz="1200" spc="-1" strike="noStrike">
                <a:latin typeface="LM Roman 10"/>
              </a:endParaRPr>
            </a:p>
          </p:txBody>
        </p:sp>
        <p:sp>
          <p:nvSpPr>
            <p:cNvPr id="156" name=""/>
            <p:cNvSpPr txBox="1"/>
            <p:nvPr/>
          </p:nvSpPr>
          <p:spPr>
            <a:xfrm>
              <a:off x="7543800" y="1188000"/>
              <a:ext cx="914400" cy="306720"/>
            </a:xfrm>
            <a:prstGeom prst="rect">
              <a:avLst/>
            </a:prstGeom>
            <a:noFill/>
            <a:ln w="0">
              <a:noFill/>
            </a:ln>
          </p:spPr>
          <p:txBody>
            <a:bodyPr lIns="90000" rIns="90000" tIns="45000" bIns="45000" anchor="t">
              <a:noAutofit/>
            </a:bodyPr>
            <a:p>
              <a:r>
                <a:rPr b="0" lang="en-US" sz="1200" spc="-1" strike="noStrike">
                  <a:latin typeface="LM Roman 10"/>
                </a:rPr>
                <a:t>b) KP</a:t>
              </a:r>
              <a:endParaRPr b="0" lang="en-US" sz="1200" spc="-1" strike="noStrike">
                <a:latin typeface="LM Roman 10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PlaceHolder 1"/>
          <p:cNvSpPr>
            <a:spLocks noGrp="1"/>
          </p:cNvSpPr>
          <p:nvPr>
            <p:ph type="title"/>
          </p:nvPr>
        </p:nvSpPr>
        <p:spPr>
          <a:xfrm>
            <a:off x="311760" y="1198440"/>
            <a:ext cx="8520120" cy="20523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500" spc="-1" strike="noStrike">
                <a:solidFill>
                  <a:srgbClr val="000000"/>
                </a:solidFill>
                <a:latin typeface="EB Garamond SemiBold"/>
                <a:ea typeface="EB Garamond SemiBold"/>
              </a:rPr>
              <a:t>How well does this hold up for complex sites? 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3500" spc="-1" strike="noStrike">
                <a:solidFill>
                  <a:srgbClr val="000000"/>
                </a:solidFill>
                <a:highlight>
                  <a:srgbClr val="eeff41"/>
                </a:highlight>
                <a:latin typeface="EB Garamond SemiBold"/>
                <a:ea typeface="EB Garamond SemiBold"/>
              </a:rPr>
              <a:t>How imp. Is it to get the surface temperatures?</a:t>
            </a:r>
            <a:endParaRPr b="0" lang="en-US" sz="35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2025-04-11T11:55:19Z</dcterms:modified>
  <cp:revision>1</cp:revision>
  <dc:subject/>
  <dc:title/>
</cp:coreProperties>
</file>